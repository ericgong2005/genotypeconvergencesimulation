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6"/>
  </p:notesMasterIdLst>
  <p:sldIdLst>
    <p:sldId id="256" r:id="rId2"/>
    <p:sldId id="258" r:id="rId3"/>
    <p:sldId id="259" r:id="rId4"/>
    <p:sldId id="261" r:id="rId5"/>
    <p:sldId id="263" r:id="rId6"/>
    <p:sldId id="262" r:id="rId7"/>
    <p:sldId id="264" r:id="rId8"/>
    <p:sldId id="267" r:id="rId9"/>
    <p:sldId id="265" r:id="rId10"/>
    <p:sldId id="268" r:id="rId11"/>
    <p:sldId id="276" r:id="rId12"/>
    <p:sldId id="271" r:id="rId13"/>
    <p:sldId id="272" r:id="rId14"/>
    <p:sldId id="2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>
      <p:cViewPr>
        <p:scale>
          <a:sx n="126" d="100"/>
          <a:sy n="126" d="100"/>
        </p:scale>
        <p:origin x="232" y="-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3C31-74C8-A84E-9FAA-ADAA68FEA2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12FCB-550C-A949-B7AF-9F06AC2A1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2FCB-550C-A949-B7AF-9F06AC2A10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91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2FCB-550C-A949-B7AF-9F06AC2A10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6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E58C9-521F-EAFD-70CB-309637B7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608E3-1ED8-E042-7FBA-25071C290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C67C4-4504-270B-DF38-FA66DC9D2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E31A6-5E6F-8CEF-CF08-2356144E9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2FCB-550C-A949-B7AF-9F06AC2A10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6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D9A5-EAFA-A68C-6AE5-35AC1801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AA501-E579-025E-276B-ED2BF7EFD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AC2AC-C1C6-7E22-4B66-55EA6814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5F095-8AC3-156E-7A62-9E6D7521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2FCB-550C-A949-B7AF-9F06AC2A10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24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E1A11-60D8-83D9-EA94-9AC18F3A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4F8DA-AE8D-31DA-EFF9-B087E7CA7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1FBD8-1D3E-A347-1C00-018C9BD9C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A4EA-35E8-AA23-29DB-55EE0BA11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2FCB-550C-A949-B7AF-9F06AC2A10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0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292A-C563-17E0-6500-CF506B46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D470B-EA9F-2763-657D-4AD77EB66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08E9A-7686-7307-A5AD-A92D1DE1C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C001F-8419-939C-29E9-21011B9E7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2FCB-550C-A949-B7AF-9F06AC2A10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7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2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2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9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7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3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6778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95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353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0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4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3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DAEC7-85FA-0245-A5EE-C6E7306327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95810B-CDD3-0942-90D5-BAB1D708B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E070-03F4-F96F-A00E-840D56F8A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322" y="2404534"/>
            <a:ext cx="8360726" cy="1646302"/>
          </a:xfrm>
        </p:spPr>
        <p:txBody>
          <a:bodyPr/>
          <a:lstStyle/>
          <a:p>
            <a:pPr algn="l"/>
            <a:r>
              <a:rPr lang="en-US" sz="3000" dirty="0"/>
              <a:t>Evolutionary Dynamics Simulations Examining the Effect of Genotype-specific Fitness on Population-level Allele Frequencies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B6905-5B03-8FFA-2293-CC3ECAC2B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321" y="4050833"/>
            <a:ext cx="8360726" cy="1096899"/>
          </a:xfrm>
        </p:spPr>
        <p:txBody>
          <a:bodyPr/>
          <a:lstStyle/>
          <a:p>
            <a:pPr algn="l"/>
            <a:r>
              <a:rPr lang="en-US" dirty="0"/>
              <a:t>Eric Gong</a:t>
            </a:r>
          </a:p>
        </p:txBody>
      </p:sp>
    </p:spTree>
    <p:extLst>
      <p:ext uri="{BB962C8B-B14F-4D97-AF65-F5344CB8AC3E}">
        <p14:creationId xmlns:p14="http://schemas.microsoft.com/office/powerpoint/2010/main" val="3696524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E6FB-9024-B27D-B57C-7E619CBB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Allele Inheritance in Lethal Diseases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ACEB-A719-1085-F772-5E389AC0A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Autosomal Dominant</a:t>
            </a:r>
          </a:p>
          <a:p>
            <a:pPr lvl="1"/>
            <a:r>
              <a:rPr lang="en-US" dirty="0"/>
              <a:t>Huntington’s Disease</a:t>
            </a:r>
          </a:p>
          <a:p>
            <a:pPr lvl="2"/>
            <a:r>
              <a:rPr lang="en-US" dirty="0"/>
              <a:t>1 in 200,000 individuals possess one allele for the disease</a:t>
            </a:r>
          </a:p>
          <a:p>
            <a:r>
              <a:rPr lang="en-US" dirty="0"/>
              <a:t>Autosomal Recessive</a:t>
            </a:r>
          </a:p>
          <a:p>
            <a:pPr lvl="1"/>
            <a:r>
              <a:rPr lang="en-US" dirty="0"/>
              <a:t>Tay-Sachs Disease</a:t>
            </a:r>
          </a:p>
          <a:p>
            <a:pPr lvl="2"/>
            <a:r>
              <a:rPr lang="en-US" dirty="0"/>
              <a:t>1 in 100,000 born homozygotes, 1 in 250 individuals are carriers</a:t>
            </a:r>
          </a:p>
          <a:p>
            <a:pPr lvl="1"/>
            <a:r>
              <a:rPr lang="en-US" dirty="0"/>
              <a:t>Sickle Cell Anemia</a:t>
            </a:r>
          </a:p>
          <a:p>
            <a:pPr lvl="2"/>
            <a:r>
              <a:rPr lang="en-US" dirty="0"/>
              <a:t>In certain regions: 2.6% born homozygotes, 29% of individuals are carriers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8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115E-F52E-D96D-A8A9-4C34F862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Heterozygote Advantage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FD79-FF35-D6F1-B28A-16B891F8E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Sickle Cell Anemia confers Malaria resistance!</a:t>
            </a:r>
          </a:p>
        </p:txBody>
      </p:sp>
      <p:pic>
        <p:nvPicPr>
          <p:cNvPr id="5" name="Picture 4" descr="A diagram of a sickled parasitized cycle&#10;&#10;AI-generated content may be incorrect.">
            <a:extLst>
              <a:ext uri="{FF2B5EF4-FFF2-40B4-BE49-F238E27FC236}">
                <a16:creationId xmlns:a16="http://schemas.microsoft.com/office/drawing/2014/main" id="{4153E352-EC36-D569-23CD-10D36849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6"/>
          <a:stretch>
            <a:fillRect/>
          </a:stretch>
        </p:blipFill>
        <p:spPr>
          <a:xfrm>
            <a:off x="1156139" y="2898550"/>
            <a:ext cx="3594538" cy="2747840"/>
          </a:xfrm>
          <a:prstGeom prst="rect">
            <a:avLst/>
          </a:prstGeom>
        </p:spPr>
      </p:pic>
      <p:pic>
        <p:nvPicPr>
          <p:cNvPr id="2050" name="Picture 2" descr="What we know about gene therapy for sickle cell disease">
            <a:extLst>
              <a:ext uri="{FF2B5EF4-FFF2-40B4-BE49-F238E27FC236}">
                <a16:creationId xmlns:a16="http://schemas.microsoft.com/office/drawing/2014/main" id="{CEBE4197-B3F4-1BED-AC9A-7BD1F8686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546" y="3001274"/>
            <a:ext cx="3813587" cy="254239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70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4E415B1-60BC-8436-EFF8-1E03A1359483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4932450" y="3733008"/>
            <a:ext cx="240961" cy="580557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DE1868-6079-6DFB-9B01-F90A8CE1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Dynamics Simulations:</a:t>
            </a:r>
            <a:br>
              <a:rPr lang="en-US" dirty="0"/>
            </a:br>
            <a:r>
              <a:rPr lang="en-US" dirty="0"/>
              <a:t>The Leslie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79440-DAF7-D873-0605-BAC934014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predict how populations change over time</a:t>
            </a:r>
          </a:p>
          <a:p>
            <a:pPr lvl="1"/>
            <a:r>
              <a:rPr lang="en-US" dirty="0"/>
              <a:t>Divide into age groups</a:t>
            </a:r>
          </a:p>
          <a:p>
            <a:pPr lvl="1"/>
            <a:r>
              <a:rPr lang="en-US" dirty="0"/>
              <a:t>Find age-specific survival rates</a:t>
            </a:r>
          </a:p>
          <a:p>
            <a:pPr lvl="1"/>
            <a:r>
              <a:rPr lang="en-US" dirty="0"/>
              <a:t>Update the newborn group based on reproductive capacity</a:t>
            </a:r>
          </a:p>
        </p:txBody>
      </p:sp>
      <p:pic>
        <p:nvPicPr>
          <p:cNvPr id="4" name="Picture 3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F81B1B3B-BB14-B069-82F3-0337622AE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898" y="3838814"/>
            <a:ext cx="1600200" cy="546100"/>
          </a:xfrm>
          <a:prstGeom prst="rect">
            <a:avLst/>
          </a:prstGeom>
        </p:spPr>
      </p:pic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B09DEC8E-A9C6-3EB4-2703-9527CB8A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19" y="4384914"/>
            <a:ext cx="4025900" cy="2082800"/>
          </a:xfrm>
          <a:prstGeom prst="rect">
            <a:avLst/>
          </a:prstGeom>
        </p:spPr>
      </p:pic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B1C53D0-6F55-9AED-6998-77E88AB0F85A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5655323" y="4313564"/>
            <a:ext cx="1556935" cy="478042"/>
          </a:xfrm>
          <a:prstGeom prst="bentConnector3">
            <a:avLst>
              <a:gd name="adj1" fmla="val 76050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DE158AC-A722-73CA-433E-DCB4002C6C3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5655323" y="4795477"/>
            <a:ext cx="1556935" cy="478042"/>
          </a:xfrm>
          <a:prstGeom prst="bentConnector3">
            <a:avLst>
              <a:gd name="adj1" fmla="val 5856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65DFDB1-36A7-1962-0A7B-F05DDE8FD2EF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5655323" y="5277390"/>
            <a:ext cx="1556935" cy="478042"/>
          </a:xfrm>
          <a:prstGeom prst="bentConnector3">
            <a:avLst>
              <a:gd name="adj1" fmla="val 41948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3FF59A3-F716-97C9-B37E-35EBBC5D3FB8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5655323" y="5759303"/>
            <a:ext cx="1556934" cy="478042"/>
          </a:xfrm>
          <a:prstGeom prst="bentConnector3">
            <a:avLst>
              <a:gd name="adj1" fmla="val 22056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D0AA5F4A-259B-B595-9B6A-709ED060F51B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4932454" y="3756409"/>
            <a:ext cx="240956" cy="1039069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37F849FC-12B8-20D0-0B65-AD48553256E4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4932454" y="3746834"/>
            <a:ext cx="240957" cy="1530557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12C76233-BA4F-74B8-3CE0-A525BF73DC48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4932452" y="3733007"/>
            <a:ext cx="240958" cy="2026296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6E9FF09B-5161-F8F0-AC68-8BF4AFC30772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4932451" y="3746834"/>
            <a:ext cx="240958" cy="2494382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B5DFB51-9940-F4C9-E1EA-C54EFF60EAB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940707" y="3733007"/>
            <a:ext cx="2512508" cy="335729"/>
          </a:xfrm>
          <a:prstGeom prst="bentConnector2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B46B733-8F22-DA03-07B3-36339E414297}"/>
              </a:ext>
            </a:extLst>
          </p:cNvPr>
          <p:cNvSpPr/>
          <p:nvPr/>
        </p:nvSpPr>
        <p:spPr>
          <a:xfrm>
            <a:off x="7212258" y="4068736"/>
            <a:ext cx="481913" cy="481913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4BA62-8867-3458-A7DC-27FB36883433}"/>
              </a:ext>
            </a:extLst>
          </p:cNvPr>
          <p:cNvSpPr/>
          <p:nvPr/>
        </p:nvSpPr>
        <p:spPr>
          <a:xfrm>
            <a:off x="5173410" y="4072607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05718-83B7-9EF6-3DD2-36A7A2383A64}"/>
              </a:ext>
            </a:extLst>
          </p:cNvPr>
          <p:cNvSpPr/>
          <p:nvPr/>
        </p:nvSpPr>
        <p:spPr>
          <a:xfrm>
            <a:off x="5173410" y="4554520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76F5DD-E13B-8629-276C-119DAD4B8139}"/>
              </a:ext>
            </a:extLst>
          </p:cNvPr>
          <p:cNvSpPr/>
          <p:nvPr/>
        </p:nvSpPr>
        <p:spPr>
          <a:xfrm>
            <a:off x="5173410" y="5036433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C9C95-F5E1-DA3D-1594-CE10A3A19E75}"/>
              </a:ext>
            </a:extLst>
          </p:cNvPr>
          <p:cNvSpPr/>
          <p:nvPr/>
        </p:nvSpPr>
        <p:spPr>
          <a:xfrm>
            <a:off x="5173410" y="5518346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0E7CAD-0F20-6CAA-0D55-8B589130AFF1}"/>
              </a:ext>
            </a:extLst>
          </p:cNvPr>
          <p:cNvSpPr/>
          <p:nvPr/>
        </p:nvSpPr>
        <p:spPr>
          <a:xfrm>
            <a:off x="5173409" y="6000259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3E7044-3B54-3488-5E8C-8FC0B2E111ED}"/>
              </a:ext>
            </a:extLst>
          </p:cNvPr>
          <p:cNvSpPr/>
          <p:nvPr/>
        </p:nvSpPr>
        <p:spPr>
          <a:xfrm>
            <a:off x="7212258" y="4550649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CEC856-AD08-C2A4-0DB3-9948C275A1BF}"/>
              </a:ext>
            </a:extLst>
          </p:cNvPr>
          <p:cNvSpPr/>
          <p:nvPr/>
        </p:nvSpPr>
        <p:spPr>
          <a:xfrm>
            <a:off x="7212258" y="5032562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B1D86-5911-EA86-AA14-288A7732F373}"/>
              </a:ext>
            </a:extLst>
          </p:cNvPr>
          <p:cNvSpPr/>
          <p:nvPr/>
        </p:nvSpPr>
        <p:spPr>
          <a:xfrm>
            <a:off x="7212258" y="5514475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D168E9-2CC8-2D89-9533-73CC4C1C8DCD}"/>
              </a:ext>
            </a:extLst>
          </p:cNvPr>
          <p:cNvSpPr/>
          <p:nvPr/>
        </p:nvSpPr>
        <p:spPr>
          <a:xfrm>
            <a:off x="7212257" y="5996388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2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23B5-1381-5495-1142-5B40CC01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4B13B3E-C383-8EFD-0B25-EA7586F0DD34}"/>
              </a:ext>
            </a:extLst>
          </p:cNvPr>
          <p:cNvCxnSpPr>
            <a:cxnSpLocks/>
            <a:stCxn id="67" idx="2"/>
            <a:endCxn id="30" idx="0"/>
          </p:cNvCxnSpPr>
          <p:nvPr/>
        </p:nvCxnSpPr>
        <p:spPr>
          <a:xfrm rot="5400000">
            <a:off x="4030267" y="3481305"/>
            <a:ext cx="485784" cy="290069"/>
          </a:xfrm>
          <a:prstGeom prst="bentConnector3">
            <a:avLst>
              <a:gd name="adj1" fmla="val 35359"/>
            </a:avLst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C32C5A21-8AF4-B6E2-8BA4-DB67FE84A500}"/>
              </a:ext>
            </a:extLst>
          </p:cNvPr>
          <p:cNvCxnSpPr>
            <a:cxnSpLocks/>
            <a:stCxn id="67" idx="2"/>
            <a:endCxn id="54" idx="0"/>
          </p:cNvCxnSpPr>
          <p:nvPr/>
        </p:nvCxnSpPr>
        <p:spPr>
          <a:xfrm rot="16200000" flipH="1">
            <a:off x="4322271" y="3479368"/>
            <a:ext cx="481913" cy="290069"/>
          </a:xfrm>
          <a:prstGeom prst="bentConnector3">
            <a:avLst>
              <a:gd name="adj1" fmla="val 35242"/>
            </a:avLst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90A0F4D-F4DE-FF64-96B3-5F7CB02F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Dynamics Simulations:</a:t>
            </a:r>
            <a:br>
              <a:rPr lang="en-US" dirty="0"/>
            </a:br>
            <a:r>
              <a:rPr lang="en-US" dirty="0"/>
              <a:t>The Leslie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F7E4-8E03-9849-DC93-5D4BF7FB5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life expectancies for different genotypes requires different population vectors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8E7D7C67-D80A-7A89-0132-DAB58C33151E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>
            <a:off x="1607359" y="3533503"/>
            <a:ext cx="240961" cy="580557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A78EC66-B003-AC65-0C53-13921BE0ABDB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>
            <a:off x="2330232" y="4114059"/>
            <a:ext cx="1556935" cy="478042"/>
          </a:xfrm>
          <a:prstGeom prst="bentConnector3">
            <a:avLst>
              <a:gd name="adj1" fmla="val 76050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1133A216-FF35-362F-1D4C-2235F4C8905B}"/>
              </a:ext>
            </a:extLst>
          </p:cNvPr>
          <p:cNvCxnSpPr>
            <a:cxnSpLocks/>
            <a:stCxn id="32" idx="3"/>
            <a:endCxn id="37" idx="1"/>
          </p:cNvCxnSpPr>
          <p:nvPr/>
        </p:nvCxnSpPr>
        <p:spPr>
          <a:xfrm>
            <a:off x="2330232" y="4595972"/>
            <a:ext cx="1556935" cy="478042"/>
          </a:xfrm>
          <a:prstGeom prst="bentConnector3">
            <a:avLst>
              <a:gd name="adj1" fmla="val 5856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D9A8E809-D5A2-146B-2269-FAA2C61D1787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>
            <a:off x="2330232" y="5077885"/>
            <a:ext cx="1556935" cy="478042"/>
          </a:xfrm>
          <a:prstGeom prst="bentConnector3">
            <a:avLst>
              <a:gd name="adj1" fmla="val 41948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60366CD-2762-9787-1BD2-8C1E3BBBD345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>
            <a:off x="2330232" y="5559798"/>
            <a:ext cx="1556934" cy="478042"/>
          </a:xfrm>
          <a:prstGeom prst="bentConnector3">
            <a:avLst>
              <a:gd name="adj1" fmla="val 22056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A2E2638B-0189-52A0-8D4E-7B2930259BA4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1607363" y="3556904"/>
            <a:ext cx="240956" cy="1039069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6ED65F2-99F7-78A8-9B6B-B41E059D6B0E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>
            <a:off x="1607363" y="3547329"/>
            <a:ext cx="240957" cy="1530557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AA626E1-7408-39E9-CE66-CCB56218B2E9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>
            <a:off x="1607361" y="3533502"/>
            <a:ext cx="240958" cy="2026296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148EF767-AF02-6A00-8BC6-3CF5E85159D6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>
            <a:off x="1607360" y="3547329"/>
            <a:ext cx="240958" cy="2494382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FE2EF6C2-8D64-5A7D-CFB2-F6F1607E913B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1615616" y="3073827"/>
            <a:ext cx="2271551" cy="459675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0A5E549-B9F1-7891-2258-88610A779EE5}"/>
              </a:ext>
            </a:extLst>
          </p:cNvPr>
          <p:cNvSpPr/>
          <p:nvPr/>
        </p:nvSpPr>
        <p:spPr>
          <a:xfrm>
            <a:off x="3887167" y="3869231"/>
            <a:ext cx="481913" cy="481913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90F72C-10E3-B4B3-DCF0-20185CA6B8BF}"/>
              </a:ext>
            </a:extLst>
          </p:cNvPr>
          <p:cNvSpPr/>
          <p:nvPr/>
        </p:nvSpPr>
        <p:spPr>
          <a:xfrm>
            <a:off x="1848319" y="3873102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5AD13B-58BB-6BA5-0E41-CE5237B3BE46}"/>
              </a:ext>
            </a:extLst>
          </p:cNvPr>
          <p:cNvSpPr/>
          <p:nvPr/>
        </p:nvSpPr>
        <p:spPr>
          <a:xfrm>
            <a:off x="1848319" y="4355015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7E8667-AF17-03DF-5DFD-589ABF50A7EC}"/>
              </a:ext>
            </a:extLst>
          </p:cNvPr>
          <p:cNvSpPr/>
          <p:nvPr/>
        </p:nvSpPr>
        <p:spPr>
          <a:xfrm>
            <a:off x="1848319" y="4836928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FED250-1920-28FB-E691-F51802AA6124}"/>
              </a:ext>
            </a:extLst>
          </p:cNvPr>
          <p:cNvSpPr/>
          <p:nvPr/>
        </p:nvSpPr>
        <p:spPr>
          <a:xfrm>
            <a:off x="1848319" y="5318841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02ACEC-FB9A-5C44-6F2D-167FBCADF22B}"/>
              </a:ext>
            </a:extLst>
          </p:cNvPr>
          <p:cNvSpPr/>
          <p:nvPr/>
        </p:nvSpPr>
        <p:spPr>
          <a:xfrm>
            <a:off x="1848318" y="5800754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3D7958-4F8A-5F42-6048-A65C0CE1270D}"/>
              </a:ext>
            </a:extLst>
          </p:cNvPr>
          <p:cNvSpPr/>
          <p:nvPr/>
        </p:nvSpPr>
        <p:spPr>
          <a:xfrm>
            <a:off x="3887167" y="4351144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294EE5-27D7-235F-8A05-2C914A6FC997}"/>
              </a:ext>
            </a:extLst>
          </p:cNvPr>
          <p:cNvSpPr/>
          <p:nvPr/>
        </p:nvSpPr>
        <p:spPr>
          <a:xfrm>
            <a:off x="3887167" y="4833057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BCD194-5C73-C12B-0AEB-8CFDBA946608}"/>
              </a:ext>
            </a:extLst>
          </p:cNvPr>
          <p:cNvSpPr/>
          <p:nvPr/>
        </p:nvSpPr>
        <p:spPr>
          <a:xfrm>
            <a:off x="3887167" y="5314970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8891E8-6996-F7DA-C63F-79D05F1954E8}"/>
              </a:ext>
            </a:extLst>
          </p:cNvPr>
          <p:cNvSpPr/>
          <p:nvPr/>
        </p:nvSpPr>
        <p:spPr>
          <a:xfrm>
            <a:off x="3887166" y="5796883"/>
            <a:ext cx="481913" cy="48191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337D52F-ED83-EE22-EE2A-45A5C4D83F28}"/>
              </a:ext>
            </a:extLst>
          </p:cNvPr>
          <p:cNvCxnSpPr>
            <a:cxnSpLocks/>
            <a:stCxn id="55" idx="1"/>
          </p:cNvCxnSpPr>
          <p:nvPr/>
        </p:nvCxnSpPr>
        <p:spPr>
          <a:xfrm rot="10800000" flipH="1">
            <a:off x="6988066" y="3529632"/>
            <a:ext cx="240961" cy="580557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A1BCD189-9009-09FC-1412-07EB8269DDEA}"/>
              </a:ext>
            </a:extLst>
          </p:cNvPr>
          <p:cNvCxnSpPr>
            <a:cxnSpLocks/>
            <a:stCxn id="55" idx="3"/>
            <a:endCxn id="62" idx="1"/>
          </p:cNvCxnSpPr>
          <p:nvPr/>
        </p:nvCxnSpPr>
        <p:spPr>
          <a:xfrm flipH="1">
            <a:off x="4949219" y="4110188"/>
            <a:ext cx="1556935" cy="478042"/>
          </a:xfrm>
          <a:prstGeom prst="bentConnector3">
            <a:avLst>
              <a:gd name="adj1" fmla="val 76050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6A774F66-9EE1-800B-5786-30A9105ACB39}"/>
              </a:ext>
            </a:extLst>
          </p:cNvPr>
          <p:cNvCxnSpPr>
            <a:cxnSpLocks/>
            <a:stCxn id="56" idx="3"/>
            <a:endCxn id="63" idx="1"/>
          </p:cNvCxnSpPr>
          <p:nvPr/>
        </p:nvCxnSpPr>
        <p:spPr>
          <a:xfrm flipH="1">
            <a:off x="4949219" y="4592101"/>
            <a:ext cx="1556935" cy="478042"/>
          </a:xfrm>
          <a:prstGeom prst="bentConnector3">
            <a:avLst>
              <a:gd name="adj1" fmla="val 5856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08D552E9-3789-59B1-34FC-6596E1619481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 flipH="1">
            <a:off x="4949219" y="5074014"/>
            <a:ext cx="1556935" cy="478042"/>
          </a:xfrm>
          <a:prstGeom prst="bentConnector3">
            <a:avLst>
              <a:gd name="adj1" fmla="val 41948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17C8FDD5-2A9B-6F24-E179-0D92119358C9}"/>
              </a:ext>
            </a:extLst>
          </p:cNvPr>
          <p:cNvCxnSpPr>
            <a:cxnSpLocks/>
            <a:stCxn id="59" idx="3"/>
            <a:endCxn id="65" idx="1"/>
          </p:cNvCxnSpPr>
          <p:nvPr/>
        </p:nvCxnSpPr>
        <p:spPr>
          <a:xfrm flipH="1">
            <a:off x="4949220" y="5555927"/>
            <a:ext cx="1556934" cy="478042"/>
          </a:xfrm>
          <a:prstGeom prst="bentConnector3">
            <a:avLst>
              <a:gd name="adj1" fmla="val 22056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A09235F6-6D37-3406-338C-55D4B5D0332E}"/>
              </a:ext>
            </a:extLst>
          </p:cNvPr>
          <p:cNvCxnSpPr>
            <a:cxnSpLocks/>
            <a:stCxn id="56" idx="1"/>
          </p:cNvCxnSpPr>
          <p:nvPr/>
        </p:nvCxnSpPr>
        <p:spPr>
          <a:xfrm rot="10800000" flipH="1">
            <a:off x="6988067" y="3553033"/>
            <a:ext cx="240956" cy="1039069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D5A060D-391E-4B84-1DD7-FBE9B1A813AC}"/>
              </a:ext>
            </a:extLst>
          </p:cNvPr>
          <p:cNvCxnSpPr>
            <a:cxnSpLocks/>
            <a:stCxn id="58" idx="1"/>
          </p:cNvCxnSpPr>
          <p:nvPr/>
        </p:nvCxnSpPr>
        <p:spPr>
          <a:xfrm rot="10800000" flipH="1">
            <a:off x="6988066" y="3543458"/>
            <a:ext cx="240957" cy="1530557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338A0F9-1398-D955-84DC-AFBBAF63DFF4}"/>
              </a:ext>
            </a:extLst>
          </p:cNvPr>
          <p:cNvCxnSpPr>
            <a:cxnSpLocks/>
            <a:stCxn id="59" idx="1"/>
          </p:cNvCxnSpPr>
          <p:nvPr/>
        </p:nvCxnSpPr>
        <p:spPr>
          <a:xfrm rot="10800000" flipH="1">
            <a:off x="6988067" y="3529631"/>
            <a:ext cx="240958" cy="2026296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014E420A-E8CE-DCDC-5F64-F5E5B5EB88BE}"/>
              </a:ext>
            </a:extLst>
          </p:cNvPr>
          <p:cNvCxnSpPr>
            <a:cxnSpLocks/>
            <a:stCxn id="61" idx="1"/>
          </p:cNvCxnSpPr>
          <p:nvPr/>
        </p:nvCxnSpPr>
        <p:spPr>
          <a:xfrm rot="10800000" flipH="1">
            <a:off x="6988068" y="3543458"/>
            <a:ext cx="240958" cy="2494382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88043D10-C7D4-C542-FC0A-B5230C80C180}"/>
              </a:ext>
            </a:extLst>
          </p:cNvPr>
          <p:cNvCxnSpPr>
            <a:cxnSpLocks/>
            <a:endCxn id="67" idx="3"/>
          </p:cNvCxnSpPr>
          <p:nvPr/>
        </p:nvCxnSpPr>
        <p:spPr>
          <a:xfrm rot="10800000">
            <a:off x="4949220" y="3073827"/>
            <a:ext cx="2271553" cy="455812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FB39586-9580-59D1-F531-8DAD777D88B3}"/>
              </a:ext>
            </a:extLst>
          </p:cNvPr>
          <p:cNvSpPr/>
          <p:nvPr/>
        </p:nvSpPr>
        <p:spPr>
          <a:xfrm flipH="1">
            <a:off x="4467306" y="3865360"/>
            <a:ext cx="481913" cy="481913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31160B3-2BAA-5523-758F-8187F69F5688}"/>
              </a:ext>
            </a:extLst>
          </p:cNvPr>
          <p:cNvSpPr/>
          <p:nvPr/>
        </p:nvSpPr>
        <p:spPr>
          <a:xfrm flipH="1">
            <a:off x="6506154" y="3869231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EA645C9-F897-4B4D-26A5-134870724056}"/>
              </a:ext>
            </a:extLst>
          </p:cNvPr>
          <p:cNvSpPr/>
          <p:nvPr/>
        </p:nvSpPr>
        <p:spPr>
          <a:xfrm flipH="1">
            <a:off x="6506154" y="4351144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6004DA0-7383-AD88-0FC5-83594A1D91D0}"/>
              </a:ext>
            </a:extLst>
          </p:cNvPr>
          <p:cNvSpPr/>
          <p:nvPr/>
        </p:nvSpPr>
        <p:spPr>
          <a:xfrm flipH="1">
            <a:off x="6506154" y="4833057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8459CD-B23F-6826-520B-A178767B70B3}"/>
              </a:ext>
            </a:extLst>
          </p:cNvPr>
          <p:cNvSpPr/>
          <p:nvPr/>
        </p:nvSpPr>
        <p:spPr>
          <a:xfrm flipH="1">
            <a:off x="6506154" y="5314970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99E8CD1-CC1B-5244-B911-44EAB926D071}"/>
              </a:ext>
            </a:extLst>
          </p:cNvPr>
          <p:cNvSpPr/>
          <p:nvPr/>
        </p:nvSpPr>
        <p:spPr>
          <a:xfrm flipH="1">
            <a:off x="6506155" y="5796883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A3955C8-43F8-0BA2-54D2-54CCA6836FD2}"/>
              </a:ext>
            </a:extLst>
          </p:cNvPr>
          <p:cNvSpPr/>
          <p:nvPr/>
        </p:nvSpPr>
        <p:spPr>
          <a:xfrm flipH="1">
            <a:off x="4467306" y="4347273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0AE952-0BFB-1C2A-C802-B8463862AF76}"/>
              </a:ext>
            </a:extLst>
          </p:cNvPr>
          <p:cNvSpPr/>
          <p:nvPr/>
        </p:nvSpPr>
        <p:spPr>
          <a:xfrm flipH="1">
            <a:off x="4467306" y="4829186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CEA3F0-7A7E-9E5A-95BF-75A83F18FE1F}"/>
              </a:ext>
            </a:extLst>
          </p:cNvPr>
          <p:cNvSpPr/>
          <p:nvPr/>
        </p:nvSpPr>
        <p:spPr>
          <a:xfrm flipH="1">
            <a:off x="4467306" y="5311099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276BC27-E314-64AF-1A01-71A30F45DD9F}"/>
              </a:ext>
            </a:extLst>
          </p:cNvPr>
          <p:cNvSpPr/>
          <p:nvPr/>
        </p:nvSpPr>
        <p:spPr>
          <a:xfrm flipH="1">
            <a:off x="4467307" y="5793012"/>
            <a:ext cx="481913" cy="48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896B84A-2597-28EB-3A17-209B1B0357B6}"/>
              </a:ext>
            </a:extLst>
          </p:cNvPr>
          <p:cNvSpPr/>
          <p:nvPr/>
        </p:nvSpPr>
        <p:spPr>
          <a:xfrm>
            <a:off x="3887167" y="2764207"/>
            <a:ext cx="1062052" cy="619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Mendelian</a:t>
            </a:r>
          </a:p>
          <a:p>
            <a:pPr algn="ctr"/>
            <a:r>
              <a:rPr lang="en-US" sz="1200" dirty="0"/>
              <a:t>Inheritance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292D90-D540-B37A-C73C-F67E8B7F723C}"/>
              </a:ext>
            </a:extLst>
          </p:cNvPr>
          <p:cNvSpPr txBox="1"/>
          <p:nvPr/>
        </p:nvSpPr>
        <p:spPr>
          <a:xfrm>
            <a:off x="1579562" y="6323862"/>
            <a:ext cx="101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Generation </a:t>
            </a:r>
          </a:p>
          <a:p>
            <a:pPr algn="ctr"/>
            <a:r>
              <a:rPr lang="en-US" sz="800" b="1" i="1" dirty="0"/>
              <a:t>n</a:t>
            </a:r>
            <a:r>
              <a:rPr lang="en-US" sz="800" dirty="0"/>
              <a:t> </a:t>
            </a:r>
          </a:p>
          <a:p>
            <a:pPr algn="ctr"/>
            <a:r>
              <a:rPr lang="en-US" sz="800" dirty="0"/>
              <a:t>Carriers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4FDE53-2E61-83A7-6502-88F6D3FF1689}"/>
              </a:ext>
            </a:extLst>
          </p:cNvPr>
          <p:cNvSpPr txBox="1"/>
          <p:nvPr/>
        </p:nvSpPr>
        <p:spPr>
          <a:xfrm>
            <a:off x="3713864" y="6323862"/>
            <a:ext cx="828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Generation </a:t>
            </a:r>
          </a:p>
          <a:p>
            <a:pPr algn="ctr"/>
            <a:r>
              <a:rPr lang="en-US" sz="800" b="1" i="1" dirty="0"/>
              <a:t>n + 1</a:t>
            </a:r>
            <a:r>
              <a:rPr lang="en-US" sz="800" dirty="0"/>
              <a:t> </a:t>
            </a:r>
          </a:p>
          <a:p>
            <a:pPr algn="ctr"/>
            <a:r>
              <a:rPr lang="en-US" sz="800" dirty="0"/>
              <a:t>Carriers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0EA6FB-D6A5-ED1A-2A83-351AADC32BA5}"/>
              </a:ext>
            </a:extLst>
          </p:cNvPr>
          <p:cNvSpPr txBox="1"/>
          <p:nvPr/>
        </p:nvSpPr>
        <p:spPr>
          <a:xfrm>
            <a:off x="4213280" y="6330971"/>
            <a:ext cx="989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Generation </a:t>
            </a:r>
          </a:p>
          <a:p>
            <a:pPr algn="ctr"/>
            <a:r>
              <a:rPr lang="en-US" sz="800" b="1" i="1" dirty="0"/>
              <a:t>n + 1</a:t>
            </a:r>
            <a:r>
              <a:rPr lang="en-US" sz="800" dirty="0"/>
              <a:t> </a:t>
            </a:r>
          </a:p>
          <a:p>
            <a:pPr algn="ctr"/>
            <a:r>
              <a:rPr lang="en-US" sz="800" dirty="0"/>
              <a:t>Non-carriers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FCAF13-03B4-B34B-C04D-6A6CA170707E}"/>
              </a:ext>
            </a:extLst>
          </p:cNvPr>
          <p:cNvSpPr txBox="1"/>
          <p:nvPr/>
        </p:nvSpPr>
        <p:spPr>
          <a:xfrm>
            <a:off x="6252128" y="6323862"/>
            <a:ext cx="989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Generation </a:t>
            </a:r>
          </a:p>
          <a:p>
            <a:pPr algn="ctr"/>
            <a:r>
              <a:rPr lang="en-US" sz="800" b="1" i="1" dirty="0"/>
              <a:t>n</a:t>
            </a:r>
            <a:r>
              <a:rPr lang="en-US" sz="800" dirty="0"/>
              <a:t> </a:t>
            </a:r>
          </a:p>
          <a:p>
            <a:pPr algn="ctr"/>
            <a:r>
              <a:rPr lang="en-US" sz="800" dirty="0"/>
              <a:t>Non-carriers</a:t>
            </a:r>
          </a:p>
        </p:txBody>
      </p:sp>
    </p:spTree>
    <p:extLst>
      <p:ext uri="{BB962C8B-B14F-4D97-AF65-F5344CB8AC3E}">
        <p14:creationId xmlns:p14="http://schemas.microsoft.com/office/powerpoint/2010/main" val="271353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59C2-E61F-4836-A0F2-724F69BD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Stabilizing Population Size:</a:t>
            </a:r>
            <a:br>
              <a:rPr lang="en-US" dirty="0"/>
            </a:br>
            <a:r>
              <a:rPr lang="en-US" dirty="0" err="1"/>
              <a:t>Beverton</a:t>
            </a:r>
            <a:r>
              <a:rPr lang="en-US" dirty="0"/>
              <a:t>-Holt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6CBBA-4ACE-19EF-9816-3D5EB9312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sizes stay relatively constant relative to the carrying capacity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DBF5C0BF-411D-1ABE-17F9-B5AC6610A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61" y="2996075"/>
            <a:ext cx="6477000" cy="110490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F904491-D70E-4DC4-184B-1925D4ED2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311" y="4258368"/>
            <a:ext cx="47117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0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22D3-6094-D635-A713-67DE0275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Setup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881A-D161-7EB3-493F-8E0BC9A2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363547"/>
          </a:xfrm>
        </p:spPr>
        <p:txBody>
          <a:bodyPr>
            <a:normAutofit/>
          </a:bodyPr>
          <a:lstStyle/>
          <a:p>
            <a:r>
              <a:rPr lang="en-US" dirty="0"/>
              <a:t>We want to simulate under circumstances similar to the pre-1800s</a:t>
            </a:r>
          </a:p>
          <a:p>
            <a:r>
              <a:rPr lang="en-US" dirty="0"/>
              <a:t>Malaria primarily affects those under the age of 5, causing 10% of deaths in high transmission regions (without medical intervention)</a:t>
            </a:r>
          </a:p>
          <a:p>
            <a:pPr lvl="1"/>
            <a:r>
              <a:rPr lang="en-US" dirty="0"/>
              <a:t>We use a baseline age-specific survival rate and subtract 0.1 off the 0 to 5 category</a:t>
            </a:r>
          </a:p>
          <a:p>
            <a:pPr lvl="1"/>
            <a:r>
              <a:rPr lang="en-US" dirty="0"/>
              <a:t>Everyone gets Malaria!</a:t>
            </a:r>
          </a:p>
          <a:p>
            <a:r>
              <a:rPr lang="en-US" dirty="0"/>
              <a:t>Carriers of Sickle Cell are conferred a 90% decrease in Malarial fatalities </a:t>
            </a:r>
          </a:p>
          <a:p>
            <a:r>
              <a:rPr lang="en-US" dirty="0"/>
              <a:t>The average life expectancy in the African Continent was around 26 before the 19th century</a:t>
            </a:r>
          </a:p>
          <a:p>
            <a:r>
              <a:rPr lang="en-US" dirty="0"/>
              <a:t>We run each simulation for 2000 steps (each step is 5 years)</a:t>
            </a:r>
          </a:p>
          <a:p>
            <a:pPr lvl="1"/>
            <a:r>
              <a:rPr lang="en-US" dirty="0"/>
              <a:t>We typically see convergence of the proportion of carriers between 200 and 500 steps (1000 to 2500 years)</a:t>
            </a:r>
          </a:p>
          <a:p>
            <a:pPr lvl="1"/>
            <a:r>
              <a:rPr lang="en-US" dirty="0"/>
              <a:t>Malaria has been documented since 2700 BCE</a:t>
            </a:r>
          </a:p>
        </p:txBody>
      </p:sp>
    </p:spTree>
    <p:extLst>
      <p:ext uri="{BB962C8B-B14F-4D97-AF65-F5344CB8AC3E}">
        <p14:creationId xmlns:p14="http://schemas.microsoft.com/office/powerpoint/2010/main" val="348387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2EE1-80D5-FF95-E60B-9293F62A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Simulating High Malarial Transmission</a:t>
            </a:r>
          </a:p>
        </p:txBody>
      </p:sp>
    </p:spTree>
    <p:extLst>
      <p:ext uri="{BB962C8B-B14F-4D97-AF65-F5344CB8AC3E}">
        <p14:creationId xmlns:p14="http://schemas.microsoft.com/office/powerpoint/2010/main" val="353296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5AA6-D628-C6B8-527F-F02CB9BB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Effect of Ablating the Initial Proportion of the Carrier Genotype</a:t>
            </a:r>
          </a:p>
        </p:txBody>
      </p:sp>
      <p:pic>
        <p:nvPicPr>
          <p:cNvPr id="12" name="Picture 11" descr="A graph of a number of cells&#10;&#10;AI-generated content may be incorrect.">
            <a:extLst>
              <a:ext uri="{FF2B5EF4-FFF2-40B4-BE49-F238E27FC236}">
                <a16:creationId xmlns:a16="http://schemas.microsoft.com/office/drawing/2014/main" id="{B9920983-5A41-6411-8D80-3BF525515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930400"/>
            <a:ext cx="668276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2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344B-6598-2F8D-BDAC-90A5BA36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CAC0-4240-B2FB-856F-D7CB4357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Ablating the Survival Probability</a:t>
            </a:r>
          </a:p>
        </p:txBody>
      </p:sp>
      <p:pic>
        <p:nvPicPr>
          <p:cNvPr id="4" name="Picture 3" descr="A graph of a normal growth&#10;&#10;AI-generated content may be incorrect.">
            <a:extLst>
              <a:ext uri="{FF2B5EF4-FFF2-40B4-BE49-F238E27FC236}">
                <a16:creationId xmlns:a16="http://schemas.microsoft.com/office/drawing/2014/main" id="{A83A6AA6-A4BF-CFBE-B3CD-698AC8C5D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930400"/>
            <a:ext cx="621910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9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BA1B6-A6C0-48E1-0111-2B4BAB164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8286-3337-4ED3-6F25-71AA2E0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Ablating the Baseline Life Expectancy</a:t>
            </a:r>
          </a:p>
        </p:txBody>
      </p:sp>
      <p:pic>
        <p:nvPicPr>
          <p:cNvPr id="5" name="Picture 4" descr="A graph of a normal life expectancy&#10;&#10;AI-generated content may be incorrect.">
            <a:extLst>
              <a:ext uri="{FF2B5EF4-FFF2-40B4-BE49-F238E27FC236}">
                <a16:creationId xmlns:a16="http://schemas.microsoft.com/office/drawing/2014/main" id="{B3F1DF28-C97B-9E52-1619-3F2C64FDF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930400"/>
            <a:ext cx="670666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01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93ADD-8AE5-6646-DBEA-12EFA372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9EDC3-0C05-2083-375B-F651CBAE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Simulating No Malarial Transmission</a:t>
            </a:r>
          </a:p>
        </p:txBody>
      </p:sp>
    </p:spTree>
    <p:extLst>
      <p:ext uri="{BB962C8B-B14F-4D97-AF65-F5344CB8AC3E}">
        <p14:creationId xmlns:p14="http://schemas.microsoft.com/office/powerpoint/2010/main" val="144201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DCB6-E1AF-0DCF-C293-5932819D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76C8-67E0-973A-47B0-B41089C7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Effect of Ablating the Initial Proportion of the Carrier Genotype</a:t>
            </a:r>
          </a:p>
        </p:txBody>
      </p:sp>
      <p:pic>
        <p:nvPicPr>
          <p:cNvPr id="4" name="Picture 3" descr="A graph of a number of cells&#10;&#10;AI-generated content may be incorrect.">
            <a:extLst>
              <a:ext uri="{FF2B5EF4-FFF2-40B4-BE49-F238E27FC236}">
                <a16:creationId xmlns:a16="http://schemas.microsoft.com/office/drawing/2014/main" id="{C0370904-67A7-D032-50D8-6001D9B61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930400"/>
            <a:ext cx="671141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74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C6F85-77F1-B9E5-D867-FD68EFDF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55DD-5786-638D-AC4E-B33FC816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Ablating the Baseline Life Expectancy</a:t>
            </a:r>
          </a:p>
        </p:txBody>
      </p:sp>
      <p:pic>
        <p:nvPicPr>
          <p:cNvPr id="4" name="Picture 3" descr="A graph of a normal life expectancy&#10;&#10;AI-generated content may be incorrect.">
            <a:extLst>
              <a:ext uri="{FF2B5EF4-FFF2-40B4-BE49-F238E27FC236}">
                <a16:creationId xmlns:a16="http://schemas.microsoft.com/office/drawing/2014/main" id="{8B596521-A988-92C6-3841-F535B135E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930400"/>
            <a:ext cx="670822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697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348</Words>
  <Application>Microsoft Macintosh PowerPoint</Application>
  <PresentationFormat>Widescreen</PresentationFormat>
  <Paragraphs>59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Trebuchet MS</vt:lpstr>
      <vt:lpstr>Wingdings 3</vt:lpstr>
      <vt:lpstr>Facet</vt:lpstr>
      <vt:lpstr>Evolutionary Dynamics Simulations Examining the Effect of Genotype-specific Fitness on Population-level Allele Frequencies</vt:lpstr>
      <vt:lpstr>Allele Inheritance in Lethal Diseases</vt:lpstr>
      <vt:lpstr>The Heterozygote Advantage</vt:lpstr>
      <vt:lpstr>Evolutionary Dynamics Simulations: The Leslie Model</vt:lpstr>
      <vt:lpstr>Evolutionary Dynamics Simulations: The Leslie Model</vt:lpstr>
      <vt:lpstr>Stabilizing Population Size: Beverton-Holt Model</vt:lpstr>
      <vt:lpstr>Simulation Setup and Assumptions</vt:lpstr>
      <vt:lpstr>Results for Simulating High Malarial Transmission</vt:lpstr>
      <vt:lpstr>Effect of Ablating the Initial Proportion of the Carrier Genotype</vt:lpstr>
      <vt:lpstr>Effect of Ablating the Survival Probability</vt:lpstr>
      <vt:lpstr>Effect of Ablating the Baseline Life Expectancy</vt:lpstr>
      <vt:lpstr>Results for Simulating No Malarial Transmission</vt:lpstr>
      <vt:lpstr>Effect of Ablating the Initial Proportion of the Carrier Genotype</vt:lpstr>
      <vt:lpstr>Effect of Ablating the Baseline Life Expectancy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Gong, Eric</dc:creator>
  <cp:lastModifiedBy>Gong, Eric</cp:lastModifiedBy>
  <cp:revision>35</cp:revision>
  <dcterms:created xsi:type="dcterms:W3CDTF">2026-04-21T04:36:08Z</dcterms:created>
  <dcterms:modified xsi:type="dcterms:W3CDTF">2026-04-21T06:06:49Z</dcterms:modified>
</cp:coreProperties>
</file>